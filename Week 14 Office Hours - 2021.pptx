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74" r:id="rId3"/>
    <p:sldId id="275" r:id="rId4"/>
    <p:sldId id="276" r:id="rId5"/>
    <p:sldId id="277" r:id="rId6"/>
    <p:sldId id="278" r:id="rId7"/>
    <p:sldId id="279" r:id="rId8"/>
    <p:sldId id="280" r:id="rId9"/>
    <p:sldId id="281" r:id="rId10"/>
    <p:sldId id="282" r:id="rId11"/>
    <p:sldId id="283" r:id="rId12"/>
    <p:sldId id="284" r:id="rId13"/>
    <p:sldId id="285" r:id="rId14"/>
    <p:sldId id="286" r:id="rId15"/>
    <p:sldId id="287" r:id="rId16"/>
    <p:sldId id="288" r:id="rId17"/>
    <p:sldId id="289" r:id="rId18"/>
  </p:sldIdLst>
  <p:sldSz cx="12192000" cy="6858000"/>
  <p:notesSz cx="12192000" cy="6858000"/>
  <p:defaultTextStyle>
    <a:defPPr>
      <a:defRPr lang="en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94"/>
  </p:normalViewPr>
  <p:slideViewPr>
    <p:cSldViewPr>
      <p:cViewPr varScale="1">
        <p:scale>
          <a:sx n="121" d="100"/>
          <a:sy n="121" d="100"/>
        </p:scale>
        <p:origin x="744" y="17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19911" y="467360"/>
            <a:ext cx="9552177" cy="4521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9/17/21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tx1"/>
                </a:solidFill>
                <a:latin typeface="Carlito"/>
                <a:cs typeface="Carli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9/17/21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tx1"/>
                </a:solidFill>
                <a:latin typeface="Carlito"/>
                <a:cs typeface="Carli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9/17/21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tx1"/>
                </a:solidFill>
                <a:latin typeface="Carlito"/>
                <a:cs typeface="Carli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9/17/21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9/17/21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939" y="684657"/>
            <a:ext cx="10358120" cy="574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Carlito"/>
                <a:cs typeface="Carli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9/17/21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4.jpg"/><Relationship Id="rId4" Type="http://schemas.openxmlformats.org/officeDocument/2006/relationships/image" Target="../media/image13.jp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Relationship Id="rId6" Type="http://schemas.openxmlformats.org/officeDocument/2006/relationships/hyperlink" Target="http://www.emeritus.org/" TargetMode="Externa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04800" y="5943600"/>
            <a:ext cx="1135380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dirty="0">
                <a:solidFill>
                  <a:srgbClr val="006D3C"/>
                </a:solidFill>
                <a:latin typeface="Carlito"/>
                <a:cs typeface="Carlito"/>
              </a:rPr>
              <a:t>Applied </a:t>
            </a:r>
            <a:r>
              <a:rPr sz="3200" b="1" spc="-5" dirty="0">
                <a:solidFill>
                  <a:srgbClr val="006D3C"/>
                </a:solidFill>
                <a:latin typeface="Carlito"/>
                <a:cs typeface="Carlito"/>
              </a:rPr>
              <a:t>Machine </a:t>
            </a:r>
            <a:r>
              <a:rPr sz="3200" b="1" dirty="0">
                <a:solidFill>
                  <a:srgbClr val="006D3C"/>
                </a:solidFill>
                <a:latin typeface="Carlito"/>
                <a:cs typeface="Carlito"/>
              </a:rPr>
              <a:t>Learning - </a:t>
            </a:r>
            <a:r>
              <a:rPr sz="3200" b="1" spc="-30" dirty="0">
                <a:solidFill>
                  <a:srgbClr val="006D3C"/>
                </a:solidFill>
                <a:latin typeface="Carlito"/>
                <a:cs typeface="Carlito"/>
              </a:rPr>
              <a:t>Week </a:t>
            </a:r>
            <a:r>
              <a:rPr sz="3200" b="1" spc="-5" dirty="0">
                <a:solidFill>
                  <a:srgbClr val="006D3C"/>
                </a:solidFill>
                <a:latin typeface="Carlito"/>
                <a:cs typeface="Carlito"/>
              </a:rPr>
              <a:t>1</a:t>
            </a:r>
            <a:r>
              <a:rPr lang="es-ES" sz="3200" b="1" spc="-5" dirty="0">
                <a:solidFill>
                  <a:srgbClr val="006D3C"/>
                </a:solidFill>
                <a:latin typeface="Carlito"/>
                <a:cs typeface="Carlito"/>
              </a:rPr>
              <a:t>4</a:t>
            </a:r>
            <a:r>
              <a:rPr sz="3200" b="1" spc="-5" dirty="0">
                <a:solidFill>
                  <a:srgbClr val="006D3C"/>
                </a:solidFill>
                <a:latin typeface="Carlito"/>
                <a:cs typeface="Carlito"/>
              </a:rPr>
              <a:t> Office </a:t>
            </a:r>
            <a:r>
              <a:rPr sz="3200" b="1" spc="-10" dirty="0">
                <a:solidFill>
                  <a:srgbClr val="006D3C"/>
                </a:solidFill>
                <a:latin typeface="Carlito"/>
                <a:cs typeface="Carlito"/>
              </a:rPr>
              <a:t>Hours </a:t>
            </a:r>
            <a:r>
              <a:rPr lang="en-MX" sz="3200" b="1" dirty="0">
                <a:solidFill>
                  <a:srgbClr val="006D3C"/>
                </a:solidFill>
                <a:latin typeface="Carlito"/>
                <a:cs typeface="Carlito"/>
              </a:rPr>
              <a:t>–</a:t>
            </a:r>
            <a:r>
              <a:rPr sz="3200" b="1" dirty="0">
                <a:solidFill>
                  <a:srgbClr val="006D3C"/>
                </a:solidFill>
                <a:latin typeface="Carlito"/>
                <a:cs typeface="Carlito"/>
              </a:rPr>
              <a:t> </a:t>
            </a:r>
            <a:r>
              <a:rPr lang="es-ES" sz="3200" b="1" spc="-5" dirty="0" err="1">
                <a:solidFill>
                  <a:srgbClr val="006D3C"/>
                </a:solidFill>
                <a:latin typeface="Carlito"/>
                <a:cs typeface="Carlito"/>
              </a:rPr>
              <a:t>Favio</a:t>
            </a:r>
            <a:r>
              <a:rPr lang="es-ES" sz="3200" b="1" spc="-5" dirty="0">
                <a:solidFill>
                  <a:srgbClr val="006D3C"/>
                </a:solidFill>
                <a:latin typeface="Carlito"/>
                <a:cs typeface="Carlito"/>
              </a:rPr>
              <a:t> Vázquez</a:t>
            </a:r>
            <a:endParaRPr sz="3200" dirty="0">
              <a:latin typeface="Carlito"/>
              <a:cs typeface="Carlito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09600" y="499872"/>
            <a:ext cx="4501896" cy="150266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84657"/>
            <a:ext cx="806259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14.1 </a:t>
            </a:r>
            <a:r>
              <a:rPr spc="-5" dirty="0"/>
              <a:t>Geometry of Least </a:t>
            </a:r>
            <a:r>
              <a:rPr dirty="0"/>
              <a:t>Squares</a:t>
            </a:r>
            <a:r>
              <a:rPr spc="-85" dirty="0"/>
              <a:t> </a:t>
            </a:r>
            <a:r>
              <a:rPr spc="-5" dirty="0"/>
              <a:t>Regression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38200" y="1735850"/>
            <a:ext cx="10605770" cy="4756785"/>
            <a:chOff x="838200" y="1735850"/>
            <a:chExt cx="10605770" cy="4756785"/>
          </a:xfrm>
        </p:grpSpPr>
        <p:sp>
          <p:nvSpPr>
            <p:cNvPr id="4" name="object 4"/>
            <p:cNvSpPr/>
            <p:nvPr/>
          </p:nvSpPr>
          <p:spPr>
            <a:xfrm>
              <a:off x="838200" y="1735850"/>
              <a:ext cx="7158228" cy="4756389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452359" y="2334767"/>
              <a:ext cx="3991355" cy="2941319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84657"/>
            <a:ext cx="684974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14.2 </a:t>
            </a:r>
            <a:r>
              <a:rPr spc="-5" dirty="0"/>
              <a:t>Least Squares Linear</a:t>
            </a:r>
            <a:r>
              <a:rPr spc="-95" dirty="0"/>
              <a:t> </a:t>
            </a:r>
            <a:r>
              <a:rPr spc="-5" dirty="0"/>
              <a:t>Regression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38200" y="1736625"/>
            <a:ext cx="10959465" cy="4756150"/>
            <a:chOff x="838200" y="1736625"/>
            <a:chExt cx="10959465" cy="4756150"/>
          </a:xfrm>
        </p:grpSpPr>
        <p:sp>
          <p:nvSpPr>
            <p:cNvPr id="4" name="object 4"/>
            <p:cNvSpPr/>
            <p:nvPr/>
          </p:nvSpPr>
          <p:spPr>
            <a:xfrm>
              <a:off x="838200" y="1736625"/>
              <a:ext cx="7464552" cy="4755614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714488" y="2767583"/>
              <a:ext cx="4082796" cy="266700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84657"/>
            <a:ext cx="461073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14.3 A </a:t>
            </a:r>
            <a:r>
              <a:rPr spc="-5" dirty="0"/>
              <a:t>Probabilistic</a:t>
            </a:r>
            <a:r>
              <a:rPr spc="-80" dirty="0"/>
              <a:t> </a:t>
            </a:r>
            <a:r>
              <a:rPr spc="-5" dirty="0"/>
              <a:t>View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38200" y="1690116"/>
            <a:ext cx="10904220" cy="4802505"/>
            <a:chOff x="838200" y="1690116"/>
            <a:chExt cx="10904220" cy="4802505"/>
          </a:xfrm>
        </p:grpSpPr>
        <p:sp>
          <p:nvSpPr>
            <p:cNvPr id="4" name="object 4"/>
            <p:cNvSpPr/>
            <p:nvPr/>
          </p:nvSpPr>
          <p:spPr>
            <a:xfrm>
              <a:off x="838200" y="1690116"/>
              <a:ext cx="7796783" cy="4802124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8029956" y="2798063"/>
              <a:ext cx="3712463" cy="236982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84657"/>
            <a:ext cx="772731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14.4 Review: An </a:t>
            </a:r>
            <a:r>
              <a:rPr spc="-5" dirty="0"/>
              <a:t>Equality from</a:t>
            </a:r>
            <a:r>
              <a:rPr spc="-135" dirty="0"/>
              <a:t> </a:t>
            </a:r>
            <a:r>
              <a:rPr dirty="0"/>
              <a:t>Probability</a:t>
            </a:r>
          </a:p>
        </p:txBody>
      </p:sp>
      <p:sp>
        <p:nvSpPr>
          <p:cNvPr id="3" name="object 3"/>
          <p:cNvSpPr/>
          <p:nvPr/>
        </p:nvSpPr>
        <p:spPr>
          <a:xfrm>
            <a:off x="922019" y="1740138"/>
            <a:ext cx="8016240" cy="475210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84657"/>
            <a:ext cx="409892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14.5 Ridge</a:t>
            </a:r>
            <a:r>
              <a:rPr spc="-95" dirty="0"/>
              <a:t> </a:t>
            </a:r>
            <a:r>
              <a:rPr spc="-5" dirty="0"/>
              <a:t>Regression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38200" y="1736179"/>
            <a:ext cx="11165205" cy="4756150"/>
            <a:chOff x="838200" y="1736179"/>
            <a:chExt cx="11165205" cy="4756150"/>
          </a:xfrm>
        </p:grpSpPr>
        <p:sp>
          <p:nvSpPr>
            <p:cNvPr id="4" name="object 4"/>
            <p:cNvSpPr/>
            <p:nvPr/>
          </p:nvSpPr>
          <p:spPr>
            <a:xfrm>
              <a:off x="838200" y="1736179"/>
              <a:ext cx="7335011" cy="475606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333488" y="2409443"/>
              <a:ext cx="4669536" cy="29733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84657"/>
            <a:ext cx="827024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14.6-7 More Analysis </a:t>
            </a:r>
            <a:r>
              <a:rPr spc="-5" dirty="0"/>
              <a:t>of </a:t>
            </a:r>
            <a:r>
              <a:rPr dirty="0"/>
              <a:t>Ridge </a:t>
            </a:r>
            <a:r>
              <a:rPr spc="-5" dirty="0"/>
              <a:t>Regression</a:t>
            </a:r>
            <a:r>
              <a:rPr spc="-114" dirty="0"/>
              <a:t> </a:t>
            </a:r>
            <a:r>
              <a:rPr spc="5" dirty="0"/>
              <a:t>I-II</a:t>
            </a:r>
          </a:p>
        </p:txBody>
      </p:sp>
      <p:sp>
        <p:nvSpPr>
          <p:cNvPr id="3" name="object 3"/>
          <p:cNvSpPr/>
          <p:nvPr/>
        </p:nvSpPr>
        <p:spPr>
          <a:xfrm>
            <a:off x="838200" y="1690116"/>
            <a:ext cx="3976116" cy="510692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5475732" y="4302252"/>
            <a:ext cx="3584448" cy="241858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" name="object 5"/>
          <p:cNvGrpSpPr/>
          <p:nvPr/>
        </p:nvGrpSpPr>
        <p:grpSpPr>
          <a:xfrm>
            <a:off x="5512336" y="1726714"/>
            <a:ext cx="6680200" cy="3441700"/>
            <a:chOff x="5512336" y="1726714"/>
            <a:chExt cx="6680200" cy="3441700"/>
          </a:xfrm>
        </p:grpSpPr>
        <p:sp>
          <p:nvSpPr>
            <p:cNvPr id="6" name="object 6"/>
            <p:cNvSpPr/>
            <p:nvPr/>
          </p:nvSpPr>
          <p:spPr>
            <a:xfrm>
              <a:off x="5512336" y="1726714"/>
              <a:ext cx="3939511" cy="2488669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9195815" y="3127248"/>
              <a:ext cx="2996183" cy="2040635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84657"/>
            <a:ext cx="645985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14.8 </a:t>
            </a:r>
            <a:r>
              <a:rPr spc="-5" dirty="0"/>
              <a:t>The Regularization</a:t>
            </a:r>
            <a:r>
              <a:rPr spc="-45" dirty="0"/>
              <a:t> </a:t>
            </a:r>
            <a:r>
              <a:rPr spc="-5" dirty="0"/>
              <a:t>Parameter</a:t>
            </a:r>
          </a:p>
        </p:txBody>
      </p:sp>
      <p:sp>
        <p:nvSpPr>
          <p:cNvPr id="3" name="object 3"/>
          <p:cNvSpPr/>
          <p:nvPr/>
        </p:nvSpPr>
        <p:spPr>
          <a:xfrm>
            <a:off x="838200" y="1733971"/>
            <a:ext cx="7016496" cy="475826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84657"/>
            <a:ext cx="844677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14.9 </a:t>
            </a:r>
            <a:r>
              <a:rPr spc="-5" dirty="0"/>
              <a:t>Regression </a:t>
            </a:r>
            <a:r>
              <a:rPr dirty="0"/>
              <a:t>With/Without</a:t>
            </a:r>
            <a:r>
              <a:rPr spc="-95" dirty="0"/>
              <a:t> </a:t>
            </a:r>
            <a:r>
              <a:rPr dirty="0"/>
              <a:t>Regularization</a:t>
            </a:r>
          </a:p>
        </p:txBody>
      </p:sp>
      <p:sp>
        <p:nvSpPr>
          <p:cNvPr id="3" name="object 3"/>
          <p:cNvSpPr/>
          <p:nvPr/>
        </p:nvSpPr>
        <p:spPr>
          <a:xfrm>
            <a:off x="880881" y="1732801"/>
            <a:ext cx="6829034" cy="475943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84657"/>
            <a:ext cx="677164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14.10-11 Bias-Variance </a:t>
            </a:r>
            <a:r>
              <a:rPr spc="-5" dirty="0"/>
              <a:t>Trade-Off</a:t>
            </a:r>
            <a:r>
              <a:rPr spc="-125" dirty="0"/>
              <a:t> </a:t>
            </a:r>
            <a:r>
              <a:rPr dirty="0"/>
              <a:t>I-II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38200" y="1726732"/>
            <a:ext cx="9491980" cy="5023485"/>
            <a:chOff x="838200" y="1726732"/>
            <a:chExt cx="9491980" cy="5023485"/>
          </a:xfrm>
        </p:grpSpPr>
        <p:sp>
          <p:nvSpPr>
            <p:cNvPr id="4" name="object 4"/>
            <p:cNvSpPr/>
            <p:nvPr/>
          </p:nvSpPr>
          <p:spPr>
            <a:xfrm>
              <a:off x="838200" y="1726732"/>
              <a:ext cx="4157472" cy="2750779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995671" y="3150913"/>
              <a:ext cx="5334000" cy="3598881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84657"/>
            <a:ext cx="4164329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14.12 </a:t>
            </a:r>
            <a:r>
              <a:rPr spc="-5" dirty="0"/>
              <a:t>Cross</a:t>
            </a:r>
            <a:r>
              <a:rPr spc="-55" dirty="0"/>
              <a:t> </a:t>
            </a:r>
            <a:r>
              <a:rPr spc="-5" dirty="0"/>
              <a:t>Validation</a:t>
            </a:r>
          </a:p>
        </p:txBody>
      </p:sp>
      <p:sp>
        <p:nvSpPr>
          <p:cNvPr id="3" name="object 3"/>
          <p:cNvSpPr/>
          <p:nvPr/>
        </p:nvSpPr>
        <p:spPr>
          <a:xfrm>
            <a:off x="838200" y="1732518"/>
            <a:ext cx="6795516" cy="475972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84657"/>
            <a:ext cx="329184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14.13 Bayes’</a:t>
            </a:r>
            <a:r>
              <a:rPr spc="-95" dirty="0"/>
              <a:t> </a:t>
            </a:r>
            <a:r>
              <a:rPr dirty="0"/>
              <a:t>Rule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38200" y="1733574"/>
            <a:ext cx="11353800" cy="4758690"/>
            <a:chOff x="838200" y="1733574"/>
            <a:chExt cx="11353800" cy="4758690"/>
          </a:xfrm>
        </p:grpSpPr>
        <p:sp>
          <p:nvSpPr>
            <p:cNvPr id="4" name="object 4"/>
            <p:cNvSpPr/>
            <p:nvPr/>
          </p:nvSpPr>
          <p:spPr>
            <a:xfrm>
              <a:off x="838200" y="1733574"/>
              <a:ext cx="7018020" cy="4758665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492240" y="2967228"/>
              <a:ext cx="5699760" cy="3525012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84657"/>
            <a:ext cx="524637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14.14 </a:t>
            </a:r>
            <a:r>
              <a:rPr spc="-5" dirty="0"/>
              <a:t>Coin </a:t>
            </a:r>
            <a:r>
              <a:rPr dirty="0"/>
              <a:t>Flipping</a:t>
            </a:r>
            <a:r>
              <a:rPr spc="-110" dirty="0"/>
              <a:t> </a:t>
            </a:r>
            <a:r>
              <a:rPr spc="-5" dirty="0"/>
              <a:t>Example</a:t>
            </a:r>
          </a:p>
        </p:txBody>
      </p:sp>
      <p:sp>
        <p:nvSpPr>
          <p:cNvPr id="3" name="object 3"/>
          <p:cNvSpPr/>
          <p:nvPr/>
        </p:nvSpPr>
        <p:spPr>
          <a:xfrm>
            <a:off x="931615" y="1739870"/>
            <a:ext cx="7508296" cy="475236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84657"/>
            <a:ext cx="533273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14.15 Maximum A</a:t>
            </a:r>
            <a:r>
              <a:rPr spc="-75" dirty="0"/>
              <a:t> </a:t>
            </a:r>
            <a:r>
              <a:rPr spc="-5" dirty="0"/>
              <a:t>Posteriori</a:t>
            </a:r>
          </a:p>
        </p:txBody>
      </p:sp>
      <p:sp>
        <p:nvSpPr>
          <p:cNvPr id="3" name="object 3"/>
          <p:cNvSpPr/>
          <p:nvPr/>
        </p:nvSpPr>
        <p:spPr>
          <a:xfrm>
            <a:off x="838200" y="1735100"/>
            <a:ext cx="7197852" cy="475713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19911" y="467360"/>
            <a:ext cx="321691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30" dirty="0">
                <a:solidFill>
                  <a:srgbClr val="006D3C"/>
                </a:solidFill>
                <a:latin typeface="Carlito"/>
                <a:cs typeface="Carlito"/>
              </a:rPr>
              <a:t>Week </a:t>
            </a:r>
            <a:r>
              <a:rPr sz="2800" b="1" spc="-5" dirty="0">
                <a:solidFill>
                  <a:srgbClr val="006D3C"/>
                </a:solidFill>
                <a:latin typeface="Carlito"/>
                <a:cs typeface="Carlito"/>
              </a:rPr>
              <a:t>14 Office</a:t>
            </a:r>
            <a:r>
              <a:rPr sz="2800" b="1" spc="-15" dirty="0">
                <a:solidFill>
                  <a:srgbClr val="006D3C"/>
                </a:solidFill>
                <a:latin typeface="Carlito"/>
                <a:cs typeface="Carlito"/>
              </a:rPr>
              <a:t> </a:t>
            </a:r>
            <a:r>
              <a:rPr sz="2800" b="1" spc="-10" dirty="0">
                <a:solidFill>
                  <a:srgbClr val="006D3C"/>
                </a:solidFill>
                <a:latin typeface="Carlito"/>
                <a:cs typeface="Carlito"/>
              </a:rPr>
              <a:t>Hours</a:t>
            </a:r>
            <a:endParaRPr sz="2800">
              <a:latin typeface="Carlito"/>
              <a:cs typeface="Carlito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6155435"/>
            <a:ext cx="12191999" cy="70256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0311383" y="187452"/>
            <a:ext cx="1866900" cy="226161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2825876" y="2489072"/>
            <a:ext cx="6544945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dirty="0">
                <a:latin typeface="Carlito"/>
                <a:cs typeface="Carlito"/>
              </a:rPr>
              <a:t>Week 14</a:t>
            </a:r>
            <a:r>
              <a:rPr sz="6000" spc="-95" dirty="0">
                <a:latin typeface="Carlito"/>
                <a:cs typeface="Carlito"/>
              </a:rPr>
              <a:t> </a:t>
            </a:r>
            <a:r>
              <a:rPr sz="6000" dirty="0">
                <a:latin typeface="Carlito"/>
                <a:cs typeface="Carlito"/>
              </a:rPr>
              <a:t>Assignment</a:t>
            </a:r>
            <a:endParaRPr sz="60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84657"/>
            <a:ext cx="99568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Module 14 – Ridge Regression and Bayesian</a:t>
            </a:r>
            <a:r>
              <a:rPr spc="-150" dirty="0"/>
              <a:t> </a:t>
            </a:r>
            <a:r>
              <a:rPr dirty="0"/>
              <a:t>Methods</a:t>
            </a:r>
          </a:p>
        </p:txBody>
      </p:sp>
      <p:sp>
        <p:nvSpPr>
          <p:cNvPr id="3" name="object 3"/>
          <p:cNvSpPr/>
          <p:nvPr/>
        </p:nvSpPr>
        <p:spPr>
          <a:xfrm>
            <a:off x="838200" y="1708411"/>
            <a:ext cx="7330440" cy="478382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49604" y="5525211"/>
            <a:ext cx="13373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solidFill>
                  <a:srgbClr val="2AB56C"/>
                </a:solidFill>
                <a:latin typeface="Carlito"/>
                <a:cs typeface="Carlito"/>
              </a:rPr>
              <a:t>Thank</a:t>
            </a:r>
            <a:r>
              <a:rPr sz="2400" b="1" spc="-85" dirty="0">
                <a:solidFill>
                  <a:srgbClr val="2AB56C"/>
                </a:solidFill>
                <a:latin typeface="Carlito"/>
                <a:cs typeface="Carlito"/>
              </a:rPr>
              <a:t> </a:t>
            </a:r>
            <a:r>
              <a:rPr sz="2400" b="1" spc="-10" dirty="0">
                <a:solidFill>
                  <a:srgbClr val="2AB56C"/>
                </a:solidFill>
                <a:latin typeface="Carlito"/>
                <a:cs typeface="Carlito"/>
              </a:rPr>
              <a:t>you</a:t>
            </a:r>
            <a:endParaRPr sz="2400">
              <a:latin typeface="Carlito"/>
              <a:cs typeface="Carlito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09600" y="499872"/>
            <a:ext cx="4501896" cy="150266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9758171" y="5233415"/>
            <a:ext cx="362711" cy="36575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93095" y="5233415"/>
            <a:ext cx="362711" cy="36575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0828019" y="5233415"/>
            <a:ext cx="365759" cy="36575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0121645" y="5673649"/>
            <a:ext cx="117538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FFFFFF"/>
                </a:solidFill>
                <a:latin typeface="Carlito"/>
                <a:cs typeface="Carlito"/>
                <a:hlinkClick r:id="rId6"/>
              </a:rPr>
              <a:t>www.emeritus.org</a:t>
            </a:r>
            <a:endParaRPr sz="12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FFF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Words>95</Words>
  <Application>Microsoft Macintosh PowerPoint</Application>
  <PresentationFormat>Widescreen</PresentationFormat>
  <Paragraphs>19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Carlito</vt:lpstr>
      <vt:lpstr>Calibri</vt:lpstr>
      <vt:lpstr>Office Theme</vt:lpstr>
      <vt:lpstr>Applied Machine Learning - Week 14 Office Hours – Favio Vázquez</vt:lpstr>
      <vt:lpstr>14.1 Geometry of Least Squares Regression</vt:lpstr>
      <vt:lpstr>14.2 Least Squares Linear Regression</vt:lpstr>
      <vt:lpstr>14.3 A Probabilistic View</vt:lpstr>
      <vt:lpstr>14.4 Review: An Equality from Probability</vt:lpstr>
      <vt:lpstr>14.5 Ridge Regression</vt:lpstr>
      <vt:lpstr>14.6-7 More Analysis of Ridge Regression I-II</vt:lpstr>
      <vt:lpstr>14.8 The Regularization Parameter</vt:lpstr>
      <vt:lpstr>14.9 Regression With/Without Regularization</vt:lpstr>
      <vt:lpstr>14.10-11 Bias-Variance Trade-Off I-II</vt:lpstr>
      <vt:lpstr>14.12 Cross Validation</vt:lpstr>
      <vt:lpstr>14.13 Bayes’ Rule</vt:lpstr>
      <vt:lpstr>14.14 Coin Flipping Example</vt:lpstr>
      <vt:lpstr>14.15 Maximum A Posteriori</vt:lpstr>
      <vt:lpstr>PowerPoint Presentation</vt:lpstr>
      <vt:lpstr>Module 14 – Ridge Regression and Bayesian Methods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John Pelak</dc:creator>
  <cp:lastModifiedBy>Favio Vazquez</cp:lastModifiedBy>
  <cp:revision>1</cp:revision>
  <dcterms:created xsi:type="dcterms:W3CDTF">2021-09-10T20:54:49Z</dcterms:created>
  <dcterms:modified xsi:type="dcterms:W3CDTF">2021-09-17T17:45:55Z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2021-06-14T00:00:00Z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2021-09-10T00:00:00Z</vt:filetime>
  </property>
</Properties>
</file>